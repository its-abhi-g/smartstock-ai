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A5F2C7-66E7-17B4-1FD4-840D2DFF938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3272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2CE"/>
                </a:solidFill>
              </a:defRPr>
            </a:pPr>
            <a:r>
              <a:rPr dirty="0"/>
              <a:t>ORION Global Hackathon 2026</a:t>
            </a:r>
          </a:p>
          <a:p>
            <a:pPr>
              <a:defRPr sz="4400" b="1">
                <a:solidFill>
                  <a:srgbClr val="102542"/>
                </a:solidFill>
              </a:defRPr>
            </a:pPr>
            <a:r>
              <a:rPr dirty="0" err="1"/>
              <a:t>SmartStock</a:t>
            </a:r>
            <a:r>
              <a:rPr dirty="0"/>
              <a:t> AI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AI-Powered Demand Forecasting &amp; Multi-Store Inventory Optimization</a:t>
            </a:r>
            <a:br>
              <a:rPr dirty="0"/>
            </a:br>
            <a:r>
              <a:rPr dirty="0"/>
              <a:t>Turning demand predictions into optimal inventory decisions</a:t>
            </a:r>
          </a:p>
          <a:p>
            <a:br>
              <a:rPr dirty="0"/>
            </a:br>
            <a:r>
              <a:rPr dirty="0"/>
              <a:t>Team: </a:t>
            </a:r>
            <a:r>
              <a:rPr lang="en-IN" dirty="0"/>
              <a:t>AK-The-Hunter</a:t>
            </a:r>
            <a:br>
              <a:rPr dirty="0"/>
            </a:br>
            <a:r>
              <a:rPr dirty="0"/>
              <a:t>Members: </a:t>
            </a:r>
            <a:r>
              <a:rPr lang="en-IN" dirty="0"/>
              <a:t>Abhishek Gupta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542"/>
                </a:solidFill>
              </a:defRPr>
            </a:pPr>
            <a:r>
              <a:t>Slide 1 — The Problem</a:t>
            </a:r>
          </a:p>
          <a:p>
            <a:pPr>
              <a:defRPr sz="1400">
                <a:solidFill>
                  <a:srgbClr val="0072CE"/>
                </a:solidFill>
              </a:defRPr>
            </a:pPr>
            <a:r>
              <a:t>Retailers Face a Costly Balancing 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Overstock</a:t>
            </a:r>
          </a:p>
          <a:p>
            <a:pPr>
              <a:defRPr sz="1600"/>
            </a:pPr>
            <a:r>
              <a:t>• High inventory holding costs</a:t>
            </a:r>
          </a:p>
          <a:p>
            <a:pPr>
              <a:defRPr sz="1600"/>
            </a:pPr>
            <a:r>
              <a:t>• Capital locked in unsold products</a:t>
            </a:r>
          </a:p>
          <a:p>
            <a:pPr>
              <a:defRPr sz="1600"/>
            </a:pPr>
            <a:r>
              <a:t>• Expiry and wastage</a:t>
            </a:r>
          </a:p>
          <a:p>
            <a:pPr>
              <a:defRPr sz="1600"/>
            </a:pPr>
            <a:r>
              <a:t>• Storage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Understock</a:t>
            </a:r>
          </a:p>
          <a:p>
            <a:pPr>
              <a:defRPr sz="1600"/>
            </a:pPr>
            <a:r>
              <a:t>• Lost sales</a:t>
            </a:r>
          </a:p>
          <a:p>
            <a:pPr>
              <a:defRPr sz="1600"/>
            </a:pPr>
            <a:r>
              <a:t>• Poor customer experience</a:t>
            </a:r>
          </a:p>
          <a:p>
            <a:pPr>
              <a:defRPr sz="1600"/>
            </a:pPr>
            <a:r>
              <a:t>• Lower service levels</a:t>
            </a:r>
          </a:p>
          <a:p>
            <a:pPr>
              <a:defRPr sz="1600"/>
            </a:pPr>
            <a:r>
              <a:t>• Emergency replenishment costs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542"/>
                </a:solidFill>
              </a:defRPr>
            </a:pPr>
            <a:r>
              <a:t>Slide 2 — Our Solution</a:t>
            </a:r>
          </a:p>
          <a:p>
            <a:pPr>
              <a:defRPr sz="1400">
                <a:solidFill>
                  <a:srgbClr val="0072CE"/>
                </a:solidFill>
              </a:defRPr>
            </a:pPr>
            <a:r>
              <a:t>SmartStock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1. Predict: Machine Learning forecasts future demand.</a:t>
            </a:r>
          </a:p>
          <a:p>
            <a:pPr>
              <a:defRPr sz="1600"/>
            </a:pPr>
            <a:r>
              <a:t>2. Optimize: Operations Research determines the optimal replenishment strategy.</a:t>
            </a:r>
          </a:p>
          <a:p>
            <a:pPr>
              <a:defRPr sz="1600"/>
            </a:pPr>
            <a:r>
              <a:t>3. Simulate: The system evaluates inventory policies under different scenarios.</a:t>
            </a:r>
          </a:p>
          <a:p>
            <a:pPr>
              <a:defRPr sz="1600"/>
            </a:pPr>
            <a:r>
              <a:t>4. Decide: Managers receive actionable ordering and allocation recommendations.</a:t>
            </a:r>
          </a:p>
          <a:p>
            <a:br/>
            <a:r>
              <a:t>Core Idea: Forecasting tells us what is likely to happen. Optimization tells us what to do about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37718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542"/>
                </a:solidFill>
              </a:defRPr>
            </a:pPr>
            <a:r>
              <a:t>Slide 3 — System Architecture</a:t>
            </a:r>
          </a:p>
          <a:p>
            <a:pPr>
              <a:defRPr sz="1400">
                <a:solidFill>
                  <a:srgbClr val="0072CE"/>
                </a:solidFill>
              </a:defRPr>
            </a:pPr>
            <a:r>
              <a:t>From Raw Data to Business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895773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br>
              <a:rPr dirty="0"/>
            </a:br>
            <a:r>
              <a:rPr dirty="0"/>
              <a:t>     </a:t>
            </a:r>
            <a:r>
              <a:rPr lang="en-US" dirty="0"/>
              <a:t>										</a:t>
            </a:r>
            <a:r>
              <a:rPr dirty="0"/>
              <a:t>  ↓</a:t>
            </a:r>
            <a:endParaRPr lang="en-US" dirty="0"/>
          </a:p>
          <a:p>
            <a:pPr>
              <a:defRPr sz="1500"/>
            </a:pPr>
            <a:br>
              <a:rPr dirty="0"/>
            </a:br>
            <a:endParaRPr lang="en-US" dirty="0"/>
          </a:p>
          <a:p>
            <a:pPr>
              <a:defRPr sz="1500"/>
            </a:pPr>
            <a:br>
              <a:rPr dirty="0"/>
            </a:br>
            <a:r>
              <a:rPr dirty="0"/>
              <a:t>      </a:t>
            </a:r>
            <a:r>
              <a:rPr lang="en-US" dirty="0"/>
              <a:t>										</a:t>
            </a:r>
            <a:r>
              <a:rPr dirty="0"/>
              <a:t> </a:t>
            </a:r>
            <a:r>
              <a:rPr lang="en-US" dirty="0"/>
              <a:t> </a:t>
            </a:r>
            <a:r>
              <a:rPr dirty="0"/>
              <a:t>↓</a:t>
            </a:r>
            <a:endParaRPr lang="en-US" dirty="0"/>
          </a:p>
          <a:p>
            <a:pPr>
              <a:defRPr sz="1500"/>
            </a:pPr>
            <a:br>
              <a:rPr dirty="0"/>
            </a:br>
            <a:endParaRPr lang="en-US" dirty="0"/>
          </a:p>
          <a:p>
            <a:pPr>
              <a:defRPr sz="1500"/>
            </a:pPr>
            <a:br>
              <a:rPr dirty="0"/>
            </a:br>
            <a:r>
              <a:rPr dirty="0"/>
              <a:t>       </a:t>
            </a:r>
            <a:r>
              <a:rPr lang="en-US" dirty="0"/>
              <a:t>										  </a:t>
            </a:r>
            <a:r>
              <a:rPr dirty="0"/>
              <a:t>↓</a:t>
            </a:r>
            <a:endParaRPr lang="en-US" dirty="0"/>
          </a:p>
          <a:p>
            <a:pPr>
              <a:defRPr sz="1500"/>
            </a:pPr>
            <a:br>
              <a:rPr dirty="0"/>
            </a:br>
            <a:endParaRPr lang="en-US" dirty="0"/>
          </a:p>
          <a:p>
            <a:pPr>
              <a:defRPr sz="1500"/>
            </a:pPr>
            <a:br>
              <a:rPr dirty="0"/>
            </a:br>
            <a:r>
              <a:rPr dirty="0"/>
              <a:t>      </a:t>
            </a:r>
            <a:r>
              <a:rPr lang="en-US" dirty="0"/>
              <a:t>  										 </a:t>
            </a:r>
            <a:r>
              <a:rPr dirty="0"/>
              <a:t> ↓</a:t>
            </a:r>
            <a:endParaRPr lang="en-US" dirty="0"/>
          </a:p>
          <a:p>
            <a:pPr>
              <a:defRPr sz="1500"/>
            </a:pPr>
            <a:br>
              <a:rPr dirty="0"/>
            </a:br>
            <a:endParaRPr lang="en-US" dirty="0"/>
          </a:p>
          <a:p>
            <a:pPr>
              <a:defRPr sz="1500"/>
            </a:pPr>
            <a:br>
              <a:rPr dirty="0"/>
            </a:br>
            <a:r>
              <a:rPr dirty="0"/>
              <a:t>       </a:t>
            </a:r>
            <a:r>
              <a:rPr lang="en-US" dirty="0"/>
              <a:t>										  </a:t>
            </a:r>
            <a:r>
              <a:rPr dirty="0"/>
              <a:t>↓</a:t>
            </a:r>
            <a:endParaRPr lang="en-US" dirty="0"/>
          </a:p>
          <a:p>
            <a:pPr>
              <a:defRPr sz="1500"/>
            </a:pPr>
            <a:br>
              <a:rPr dirty="0"/>
            </a:br>
            <a:endParaRPr dirty="0"/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90882E3A-898A-57E8-05DC-F6CCD35CF561}"/>
              </a:ext>
            </a:extLst>
          </p:cNvPr>
          <p:cNvSpPr/>
          <p:nvPr/>
        </p:nvSpPr>
        <p:spPr>
          <a:xfrm>
            <a:off x="2406650" y="1100666"/>
            <a:ext cx="7378700" cy="506105"/>
          </a:xfrm>
          <a:prstGeom prst="flowChartAlternate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r>
              <a:rPr lang="en-GB" dirty="0"/>
              <a:t>HISTORICAL DATA (Sales, Price, Store, Seasonality)</a:t>
            </a:r>
            <a:endParaRPr lang="en-IN" dirty="0"/>
          </a:p>
          <a:p>
            <a:pPr algn="ctr"/>
            <a:endParaRPr lang="en-GB" dirty="0"/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AA3A8C89-641C-D40B-880D-1E5FA7A4B04B}"/>
              </a:ext>
            </a:extLst>
          </p:cNvPr>
          <p:cNvSpPr/>
          <p:nvPr/>
        </p:nvSpPr>
        <p:spPr>
          <a:xfrm>
            <a:off x="2406650" y="1913465"/>
            <a:ext cx="7378700" cy="506105"/>
          </a:xfrm>
          <a:prstGeom prst="flowChartAlternate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DATA PREPROCESSING (Cleaning, Features, Time-series prep)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D2336087-5FD0-10B1-F65B-110083E1E6CC}"/>
              </a:ext>
            </a:extLst>
          </p:cNvPr>
          <p:cNvSpPr/>
          <p:nvPr/>
        </p:nvSpPr>
        <p:spPr>
          <a:xfrm>
            <a:off x="2406650" y="2827865"/>
            <a:ext cx="7378700" cy="601135"/>
          </a:xfrm>
          <a:prstGeom prst="flowChartAlternate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DEMAND FORECASTING ML MODEL (</a:t>
            </a:r>
            <a:r>
              <a:rPr lang="en-GB" dirty="0" err="1"/>
              <a:t>XGBoost</a:t>
            </a:r>
            <a:r>
              <a:rPr lang="en-GB" dirty="0"/>
              <a:t> / </a:t>
            </a:r>
            <a:r>
              <a:rPr lang="en-GB" dirty="0" err="1"/>
              <a:t>LightGBM</a:t>
            </a:r>
            <a:r>
              <a:rPr lang="en-GB" dirty="0"/>
              <a:t>)</a:t>
            </a: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53BC26D6-D518-4A86-1D91-4DF2E8D724CB}"/>
              </a:ext>
            </a:extLst>
          </p:cNvPr>
          <p:cNvSpPr/>
          <p:nvPr/>
        </p:nvSpPr>
        <p:spPr>
          <a:xfrm>
            <a:off x="2406650" y="3726089"/>
            <a:ext cx="7378700" cy="541867"/>
          </a:xfrm>
          <a:prstGeom prst="flowChartAlternate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OPTIMIZATION ENGINE (MILP / </a:t>
            </a:r>
            <a:r>
              <a:rPr lang="en-GB" dirty="0" err="1"/>
              <a:t>Pyomo</a:t>
            </a:r>
            <a:r>
              <a:rPr lang="en-GB" dirty="0"/>
              <a:t> / OR-Tools)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EC9EBBE1-A626-1237-8543-ADF41EE96106}"/>
              </a:ext>
            </a:extLst>
          </p:cNvPr>
          <p:cNvSpPr/>
          <p:nvPr/>
        </p:nvSpPr>
        <p:spPr>
          <a:xfrm>
            <a:off x="2406650" y="4632402"/>
            <a:ext cx="7378700" cy="541866"/>
          </a:xfrm>
          <a:prstGeom prst="flowChartAlternate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INVENTORY DECISIONS (Order Qty, Reorder Point, Safety Stock, Allocation)</a:t>
            </a:r>
          </a:p>
        </p:txBody>
      </p:sp>
      <p:sp>
        <p:nvSpPr>
          <p:cNvPr id="16" name="Flowchart: Alternate Process 15">
            <a:extLst>
              <a:ext uri="{FF2B5EF4-FFF2-40B4-BE49-F238E27FC236}">
                <a16:creationId xmlns:a16="http://schemas.microsoft.com/office/drawing/2014/main" id="{B1965CAC-C143-15F3-A699-F4A98CF1546D}"/>
              </a:ext>
            </a:extLst>
          </p:cNvPr>
          <p:cNvSpPr/>
          <p:nvPr/>
        </p:nvSpPr>
        <p:spPr>
          <a:xfrm>
            <a:off x="2406650" y="5582562"/>
            <a:ext cx="7378700" cy="541866"/>
          </a:xfrm>
          <a:prstGeom prst="flowChartAlternate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DASHBOARD (Cost ↓ | Stockouts ↓ |  Service Level ↑)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542"/>
                </a:solidFill>
              </a:defRPr>
            </a:pPr>
            <a:r>
              <a:t>Slide 4 — AI Demand Forecasting</a:t>
            </a:r>
          </a:p>
          <a:p>
            <a:pPr>
              <a:defRPr sz="1400">
                <a:solidFill>
                  <a:srgbClr val="0072CE"/>
                </a:solidFill>
              </a:defRPr>
            </a:pPr>
            <a:r>
              <a:t>Predicting Future 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Input Features &amp; Evaluation</a:t>
            </a:r>
          </a:p>
          <a:p>
            <a:pPr>
              <a:defRPr sz="1400"/>
            </a:pPr>
            <a:r>
              <a:t>• Historical sales</a:t>
            </a:r>
          </a:p>
          <a:p>
            <a:pPr>
              <a:defRPr sz="1400"/>
            </a:pPr>
            <a:r>
              <a:t>• Product category</a:t>
            </a:r>
          </a:p>
          <a:p>
            <a:pPr>
              <a:defRPr sz="1400"/>
            </a:pPr>
            <a:r>
              <a:t>• Store/location</a:t>
            </a:r>
          </a:p>
          <a:p>
            <a:pPr>
              <a:defRPr sz="1400"/>
            </a:pPr>
            <a:r>
              <a:t>• Seasonality/Holidays</a:t>
            </a:r>
          </a:p>
          <a:p>
            <a:pPr>
              <a:defRPr sz="1400"/>
            </a:pPr>
            <a:r>
              <a:t>• Promotions &amp; Price</a:t>
            </a:r>
          </a:p>
          <a:p>
            <a:pPr>
              <a:defRPr sz="1400"/>
            </a:pPr>
            <a:r>
              <a:t>• Evaluation: MAE, RMSE, MAPE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0" y="1828800"/>
          <a:ext cx="5486400" cy="235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Current Stock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Forecast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Milk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Store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Bread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Store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Cereal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Store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542"/>
                </a:solidFill>
              </a:defRPr>
            </a:pPr>
            <a:r>
              <a:t>Slide 5 — Operations Research Optimization</a:t>
            </a:r>
          </a:p>
          <a:p>
            <a:pPr>
              <a:defRPr sz="1400">
                <a:solidFill>
                  <a:srgbClr val="0072CE"/>
                </a:solidFill>
              </a:defRPr>
            </a:pPr>
            <a:r>
              <a:t>Turning Predictions into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Decision Variables: Order Quantity, Safety Stock, Store Allocation, Replenishment Timing</a:t>
            </a:r>
          </a:p>
          <a:p>
            <a:pPr>
              <a:defRPr sz="1500" b="1"/>
            </a:pPr>
            <a:r>
              <a:t>Objective: Minimize (Holding Cost + Ordering Cost + Stockout Cost + Waste Cost)</a:t>
            </a:r>
          </a:p>
          <a:p>
            <a:pPr>
              <a:defRPr sz="1600" b="1"/>
            </a:pPr>
            <a:r>
              <a:t>Real-World Constraints:</a:t>
            </a:r>
          </a:p>
          <a:p>
            <a:pPr>
              <a:defRPr sz="1400"/>
            </a:pPr>
            <a:r>
              <a:t>• Store &amp; Warehouse capacity</a:t>
            </a:r>
          </a:p>
          <a:p>
            <a:pPr>
              <a:defRPr sz="1400"/>
            </a:pPr>
            <a:r>
              <a:t>• Supplier limits &amp; Lead times</a:t>
            </a:r>
          </a:p>
          <a:p>
            <a:pPr>
              <a:defRPr sz="1400"/>
            </a:pPr>
            <a:r>
              <a:t>• Budget constraints &amp; MOQs</a:t>
            </a:r>
          </a:p>
          <a:p>
            <a:pPr>
              <a:defRPr sz="1400"/>
            </a:pPr>
            <a:r>
              <a:t>• Demand fulfillment requirements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542"/>
                </a:solidFill>
              </a:defRPr>
            </a:pPr>
            <a:r>
              <a:t>Slide 6 — Why SmartStock AI?</a:t>
            </a:r>
          </a:p>
          <a:p>
            <a:pPr>
              <a:defRPr sz="1400">
                <a:solidFill>
                  <a:srgbClr val="0072CE"/>
                </a:solidFill>
              </a:defRPr>
            </a:pPr>
            <a:r>
              <a:t>From Reactive Ordering to Intelligent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516527"/>
            <a:ext cx="218470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 dirty="0"/>
              <a:t>Traditional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28065" y="1544042"/>
            <a:ext cx="152734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 dirty="0" err="1"/>
              <a:t>SmartStock</a:t>
            </a:r>
            <a:r>
              <a:rPr dirty="0"/>
              <a:t> AI</a:t>
            </a:r>
          </a:p>
        </p:txBody>
      </p:sp>
      <p:sp>
        <p:nvSpPr>
          <p:cNvPr id="5" name="Callout: Down Arrow 4">
            <a:extLst>
              <a:ext uri="{FF2B5EF4-FFF2-40B4-BE49-F238E27FC236}">
                <a16:creationId xmlns:a16="http://schemas.microsoft.com/office/drawing/2014/main" id="{DF372D59-201C-9772-4305-FFE35BE1D1CF}"/>
              </a:ext>
            </a:extLst>
          </p:cNvPr>
          <p:cNvSpPr/>
          <p:nvPr/>
        </p:nvSpPr>
        <p:spPr>
          <a:xfrm>
            <a:off x="1251975" y="2116668"/>
            <a:ext cx="2121446" cy="406399"/>
          </a:xfrm>
          <a:prstGeom prst="downArrowCallou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Historical Sales</a:t>
            </a:r>
          </a:p>
        </p:txBody>
      </p:sp>
      <p:sp>
        <p:nvSpPr>
          <p:cNvPr id="7" name="Callout: Down Arrow 6">
            <a:extLst>
              <a:ext uri="{FF2B5EF4-FFF2-40B4-BE49-F238E27FC236}">
                <a16:creationId xmlns:a16="http://schemas.microsoft.com/office/drawing/2014/main" id="{89878476-1A6F-CC63-13C4-8329CD5B798C}"/>
              </a:ext>
            </a:extLst>
          </p:cNvPr>
          <p:cNvSpPr/>
          <p:nvPr/>
        </p:nvSpPr>
        <p:spPr>
          <a:xfrm>
            <a:off x="1251975" y="2615354"/>
            <a:ext cx="2121446" cy="397933"/>
          </a:xfrm>
          <a:prstGeom prst="downArrowCallou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Demand Forecast</a:t>
            </a:r>
          </a:p>
        </p:txBody>
      </p:sp>
      <p:sp>
        <p:nvSpPr>
          <p:cNvPr id="9" name="Callout: Down Arrow 8">
            <a:extLst>
              <a:ext uri="{FF2B5EF4-FFF2-40B4-BE49-F238E27FC236}">
                <a16:creationId xmlns:a16="http://schemas.microsoft.com/office/drawing/2014/main" id="{9A796108-2CF8-590B-DFC3-F0BC4F34FD9E}"/>
              </a:ext>
            </a:extLst>
          </p:cNvPr>
          <p:cNvSpPr/>
          <p:nvPr/>
        </p:nvSpPr>
        <p:spPr>
          <a:xfrm>
            <a:off x="1251975" y="3105574"/>
            <a:ext cx="2121446" cy="397933"/>
          </a:xfrm>
          <a:prstGeom prst="downArrowCallou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Manual Ordering</a:t>
            </a:r>
          </a:p>
        </p:txBody>
      </p:sp>
      <p:sp>
        <p:nvSpPr>
          <p:cNvPr id="13" name="Callout: Down Arrow 12">
            <a:extLst>
              <a:ext uri="{FF2B5EF4-FFF2-40B4-BE49-F238E27FC236}">
                <a16:creationId xmlns:a16="http://schemas.microsoft.com/office/drawing/2014/main" id="{D22744D9-CE7E-6E3C-6749-1CC3297F9C50}"/>
              </a:ext>
            </a:extLst>
          </p:cNvPr>
          <p:cNvSpPr/>
          <p:nvPr/>
        </p:nvSpPr>
        <p:spPr>
          <a:xfrm>
            <a:off x="5998087" y="3077634"/>
            <a:ext cx="2387299" cy="397933"/>
          </a:xfrm>
          <a:prstGeom prst="down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Optimization Engine</a:t>
            </a:r>
          </a:p>
        </p:txBody>
      </p:sp>
      <p:sp>
        <p:nvSpPr>
          <p:cNvPr id="17" name="Callout: Down Arrow 16">
            <a:extLst>
              <a:ext uri="{FF2B5EF4-FFF2-40B4-BE49-F238E27FC236}">
                <a16:creationId xmlns:a16="http://schemas.microsoft.com/office/drawing/2014/main" id="{0782943B-DFE0-B132-C771-C730732EA8B3}"/>
              </a:ext>
            </a:extLst>
          </p:cNvPr>
          <p:cNvSpPr/>
          <p:nvPr/>
        </p:nvSpPr>
        <p:spPr>
          <a:xfrm>
            <a:off x="5998088" y="3547535"/>
            <a:ext cx="2387299" cy="397933"/>
          </a:xfrm>
          <a:prstGeom prst="down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Cost-Aware Decisions</a:t>
            </a:r>
          </a:p>
        </p:txBody>
      </p:sp>
      <p:sp>
        <p:nvSpPr>
          <p:cNvPr id="19" name="Callout: Down Arrow 18">
            <a:extLst>
              <a:ext uri="{FF2B5EF4-FFF2-40B4-BE49-F238E27FC236}">
                <a16:creationId xmlns:a16="http://schemas.microsoft.com/office/drawing/2014/main" id="{41E14BB8-F391-6E70-4116-179084352E40}"/>
              </a:ext>
            </a:extLst>
          </p:cNvPr>
          <p:cNvSpPr/>
          <p:nvPr/>
        </p:nvSpPr>
        <p:spPr>
          <a:xfrm>
            <a:off x="5998087" y="2607733"/>
            <a:ext cx="2387299" cy="397933"/>
          </a:xfrm>
          <a:prstGeom prst="down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AI Demand Forecast</a:t>
            </a:r>
          </a:p>
        </p:txBody>
      </p:sp>
      <p:sp>
        <p:nvSpPr>
          <p:cNvPr id="21" name="Callout: Down Arrow 20">
            <a:extLst>
              <a:ext uri="{FF2B5EF4-FFF2-40B4-BE49-F238E27FC236}">
                <a16:creationId xmlns:a16="http://schemas.microsoft.com/office/drawing/2014/main" id="{58683111-FC70-CCF1-F65B-D8F7C0CA3B08}"/>
              </a:ext>
            </a:extLst>
          </p:cNvPr>
          <p:cNvSpPr/>
          <p:nvPr/>
        </p:nvSpPr>
        <p:spPr>
          <a:xfrm>
            <a:off x="5998087" y="2135293"/>
            <a:ext cx="2387299" cy="397933"/>
          </a:xfrm>
          <a:prstGeom prst="down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Historical Sales</a:t>
            </a:r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7A8C6AAD-5495-C7B6-E55A-9D22740ADE6C}"/>
              </a:ext>
            </a:extLst>
          </p:cNvPr>
          <p:cNvSpPr/>
          <p:nvPr/>
        </p:nvSpPr>
        <p:spPr>
          <a:xfrm>
            <a:off x="1251975" y="3695700"/>
            <a:ext cx="2121446" cy="397933"/>
          </a:xfrm>
          <a:prstGeom prst="flowChartAlternate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Reactive Decisions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57A12774-98F7-71E9-EA20-01A151C4690D}"/>
              </a:ext>
            </a:extLst>
          </p:cNvPr>
          <p:cNvSpPr/>
          <p:nvPr/>
        </p:nvSpPr>
        <p:spPr>
          <a:xfrm>
            <a:off x="5998087" y="4044712"/>
            <a:ext cx="2387299" cy="539141"/>
          </a:xfrm>
          <a:prstGeom prst="flowChartAlternate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Automated Recommendations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542"/>
                </a:solidFill>
              </a:defRPr>
            </a:pPr>
            <a:r>
              <a:t>Slide 7 — Interactive Decision Dashboard</a:t>
            </a:r>
          </a:p>
          <a:p>
            <a:pPr>
              <a:defRPr sz="1400">
                <a:solidFill>
                  <a:srgbClr val="0072CE"/>
                </a:solidFill>
              </a:defRPr>
            </a:pPr>
            <a:r>
              <a:t>One Place to Understand the Entire Inventory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• Inventory Overview: Current inventory, safety stock, reorder points, inventory turnover</a:t>
            </a:r>
          </a:p>
          <a:p>
            <a:pPr>
              <a:defRPr sz="1500"/>
            </a:pPr>
            <a:r>
              <a:t>• Forecasting: Actual vs predicted demand, product-level forecasts</a:t>
            </a:r>
          </a:p>
          <a:p>
            <a:pPr>
              <a:defRPr sz="1500"/>
            </a:pPr>
            <a:r>
              <a:t>• Optimization: Recommended order quantity, replenishment date, store allocation</a:t>
            </a:r>
          </a:p>
          <a:p>
            <a:pPr>
              <a:defRPr sz="1500"/>
            </a:pPr>
            <a:r>
              <a:t>• Business Impact: Total inventory cost, stockout rate, waste, service level</a:t>
            </a:r>
          </a:p>
          <a:p>
            <a:br/>
            <a:r>
              <a:t>Example Recommendation: Store A → Milk → Order 70 units → Reorder Point: 45 units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542"/>
                </a:solidFill>
              </a:defRPr>
            </a:pPr>
            <a:r>
              <a:t>Slide 8 — Measuring Business Impact</a:t>
            </a:r>
          </a:p>
          <a:p>
            <a:pPr>
              <a:defRPr sz="1400">
                <a:solidFill>
                  <a:srgbClr val="0072CE"/>
                </a:solidFill>
              </a:defRPr>
            </a:pPr>
            <a:r>
              <a:t>Baseline vs SmartStock AI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SmartStock 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Stockout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TBD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Inventory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TBD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Waste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TBD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Service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TBD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Total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TBD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542"/>
                </a:solidFill>
              </a:defRPr>
            </a:pPr>
            <a:r>
              <a:t>Slide 9 — Technology &amp; Implementation</a:t>
            </a:r>
          </a:p>
          <a:p>
            <a:pPr>
              <a:defRPr sz="1400">
                <a:solidFill>
                  <a:srgbClr val="0072CE"/>
                </a:solidFill>
              </a:defRPr>
            </a:pPr>
            <a:r>
              <a:t>Technology Stack &amp;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Data &amp; ML: Python, Pandas, NumPy, Scikit-learn, XGBoost / LightGBM</a:t>
            </a:r>
          </a:p>
          <a:p>
            <a:pPr>
              <a:defRPr sz="1500"/>
            </a:pPr>
            <a:r>
              <a:t>Optimization: Pyomo / OR-Tools (MILP &amp; Constraint-based decision making)</a:t>
            </a:r>
          </a:p>
          <a:p>
            <a:pPr>
              <a:defRPr sz="1500"/>
            </a:pPr>
            <a:r>
              <a:t>Visualization &amp; App: Plotly, Matplotlib, Streamlit</a:t>
            </a:r>
          </a:p>
          <a:p>
            <a:br/>
            <a:r>
              <a:t>End-to-End Pipeline:</a:t>
            </a:r>
          </a:p>
          <a:p>
            <a:pPr>
              <a:defRPr sz="1200"/>
            </a:pPr>
            <a:r>
              <a:t>DATA → PREPROCESSING → FEATURE ENGINEERING → DEMAND FORECAST → OPTIMIZATION → SIMULATION → DASHBOARD → BUSINESS DECISION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542"/>
                </a:solidFill>
              </a:defRPr>
            </a:pPr>
            <a:r>
              <a:t>Slide 10 — Impact &amp; Future Scope</a:t>
            </a:r>
          </a:p>
          <a:p>
            <a:pPr>
              <a:defRPr sz="1400">
                <a:solidFill>
                  <a:srgbClr val="0072CE"/>
                </a:solidFill>
              </a:defRPr>
            </a:pPr>
            <a:r>
              <a:t>Predict Better. Optimize Smarter. Waste Less.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Future Scope:</a:t>
            </a:r>
          </a:p>
          <a:p>
            <a:pPr>
              <a:defRPr sz="1500"/>
            </a:pPr>
            <a:r>
              <a:t>• Multi-echelon supply-chain optimization</a:t>
            </a:r>
          </a:p>
          <a:p>
            <a:pPr>
              <a:defRPr sz="1500"/>
            </a:pPr>
            <a:r>
              <a:t>• Real-time demand updates &amp; inventory monitoring</a:t>
            </a:r>
          </a:p>
          <a:p>
            <a:pPr>
              <a:defRPr sz="1500"/>
            </a:pPr>
            <a:r>
              <a:t>• Dynamic pricing integration &amp; Supplier selection</a:t>
            </a:r>
          </a:p>
          <a:p>
            <a:pPr>
              <a:defRPr sz="1500"/>
            </a:pPr>
            <a:r>
              <a:t>• Carbon-aware logistics &amp; Reinforcement learning</a:t>
            </a:r>
          </a:p>
          <a:p>
            <a:br/>
            <a:r>
              <a:t>SmartStock AI transforms demand uncertainty into optimized, cost-aware inventory decisions.</a:t>
            </a:r>
            <a:br/>
            <a:br/>
            <a:r>
              <a:t>Thank You — ORION Global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711</Words>
  <Application>Microsoft Office PowerPoint</Application>
  <PresentationFormat>Widescreen</PresentationFormat>
  <Paragraphs>131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Abhishek Gupta</cp:lastModifiedBy>
  <cp:revision>4</cp:revision>
  <dcterms:created xsi:type="dcterms:W3CDTF">2013-01-27T09:14:16Z</dcterms:created>
  <dcterms:modified xsi:type="dcterms:W3CDTF">2026-08-18T19:23:29Z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56dfe78-8a37-4fb5-b4aa-b92b97e18d15_Enabled">
    <vt:lpwstr>true</vt:lpwstr>
  </property>
  <property fmtid="{D5CDD505-2E9C-101B-9397-08002B2CF9AE}" pid="3" name="MSIP_Label_556dfe78-8a37-4fb5-b4aa-b92b97e18d15_SetDate">
    <vt:lpwstr>2026-08-18T19:05:03Z</vt:lpwstr>
  </property>
  <property fmtid="{D5CDD505-2E9C-101B-9397-08002B2CF9AE}" pid="4" name="MSIP_Label_556dfe78-8a37-4fb5-b4aa-b92b97e18d15_Method">
    <vt:lpwstr>Standard</vt:lpwstr>
  </property>
  <property fmtid="{D5CDD505-2E9C-101B-9397-08002B2CF9AE}" pid="5" name="MSIP_Label_556dfe78-8a37-4fb5-b4aa-b92b97e18d15_Name">
    <vt:lpwstr>Internal</vt:lpwstr>
  </property>
  <property fmtid="{D5CDD505-2E9C-101B-9397-08002B2CF9AE}" pid="6" name="MSIP_Label_556dfe78-8a37-4fb5-b4aa-b92b97e18d15_SiteId">
    <vt:lpwstr>189de737-c93a-4f5a-8b68-6f4ca9941912</vt:lpwstr>
  </property>
  <property fmtid="{D5CDD505-2E9C-101B-9397-08002B2CF9AE}" pid="7" name="MSIP_Label_556dfe78-8a37-4fb5-b4aa-b92b97e18d15_ActionId">
    <vt:lpwstr>23e8f5cc-5733-43f6-b1b7-0ccdfed9898d</vt:lpwstr>
  </property>
  <property fmtid="{D5CDD505-2E9C-101B-9397-08002B2CF9AE}" pid="8" name="MSIP_Label_556dfe78-8a37-4fb5-b4aa-b92b97e18d15_ContentBits">
    <vt:lpwstr>1</vt:lpwstr>
  </property>
  <property fmtid="{D5CDD505-2E9C-101B-9397-08002B2CF9AE}" pid="9" name="MSIP_Label_556dfe78-8a37-4fb5-b4aa-b92b97e18d15_Tag">
    <vt:lpwstr>10, 3, 0, 1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Classification: Internal</vt:lpwstr>
  </property>
</Properties>
</file>